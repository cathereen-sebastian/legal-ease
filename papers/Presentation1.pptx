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7" r:id="rId13"/>
    <p:sldId id="268" r:id="rId14"/>
    <p:sldId id="269" r:id="rId15"/>
    <p:sldId id="271" r:id="rId16"/>
    <p:sldId id="280" r:id="rId17"/>
    <p:sldId id="272" r:id="rId18"/>
    <p:sldId id="273" r:id="rId19"/>
    <p:sldId id="274" r:id="rId20"/>
    <p:sldId id="275" r:id="rId21"/>
    <p:sldId id="276" r:id="rId22"/>
    <p:sldId id="277" r:id="rId23"/>
    <p:sldId id="285" r:id="rId24"/>
    <p:sldId id="278" r:id="rId25"/>
    <p:sldId id="279" r:id="rId26"/>
    <p:sldId id="281" r:id="rId27"/>
    <p:sldId id="286" r:id="rId28"/>
    <p:sldId id="282" r:id="rId29"/>
    <p:sldId id="283" r:id="rId30"/>
    <p:sldId id="28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5FB45E-3859-4D5A-A683-885A46E60031}" v="1" dt="2026-02-11T03:33:32.1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673" autoAdjust="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thereen S" userId="bbad2b9e18981a51" providerId="LiveId" clId="{7EA046F3-489F-4C0D-837E-8D982C635575}"/>
    <pc:docChg chg="custSel modSld">
      <pc:chgData name="Cathereen S" userId="bbad2b9e18981a51" providerId="LiveId" clId="{7EA046F3-489F-4C0D-837E-8D982C635575}" dt="2026-02-11T03:34:40.030" v="25" actId="27636"/>
      <pc:docMkLst>
        <pc:docMk/>
      </pc:docMkLst>
      <pc:sldChg chg="modSp mod">
        <pc:chgData name="Cathereen S" userId="bbad2b9e18981a51" providerId="LiveId" clId="{7EA046F3-489F-4C0D-837E-8D982C635575}" dt="2026-02-11T03:34:40.030" v="25" actId="27636"/>
        <pc:sldMkLst>
          <pc:docMk/>
          <pc:sldMk cId="4124261611" sldId="264"/>
        </pc:sldMkLst>
        <pc:spChg chg="mod">
          <ac:chgData name="Cathereen S" userId="bbad2b9e18981a51" providerId="LiveId" clId="{7EA046F3-489F-4C0D-837E-8D982C635575}" dt="2026-02-11T03:34:40.030" v="25" actId="27636"/>
          <ac:spMkLst>
            <pc:docMk/>
            <pc:sldMk cId="4124261611" sldId="264"/>
            <ac:spMk id="3" creationId="{10932DEF-374C-D22C-BCE7-A2E1F7DF141E}"/>
          </ac:spMkLst>
        </pc:spChg>
      </pc:sldChg>
      <pc:sldChg chg="modSp mod">
        <pc:chgData name="Cathereen S" userId="bbad2b9e18981a51" providerId="LiveId" clId="{7EA046F3-489F-4C0D-837E-8D982C635575}" dt="2026-02-11T02:52:06.731" v="0" actId="5793"/>
        <pc:sldMkLst>
          <pc:docMk/>
          <pc:sldMk cId="168234278" sldId="282"/>
        </pc:sldMkLst>
        <pc:spChg chg="mod">
          <ac:chgData name="Cathereen S" userId="bbad2b9e18981a51" providerId="LiveId" clId="{7EA046F3-489F-4C0D-837E-8D982C635575}" dt="2026-02-11T02:52:06.731" v="0" actId="5793"/>
          <ac:spMkLst>
            <pc:docMk/>
            <pc:sldMk cId="168234278" sldId="282"/>
            <ac:spMk id="3" creationId="{AE2E04AE-6CE5-FA9C-C816-059231D6655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C553D-52EF-95A1-24E9-EF03B1A4E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E86475-0C61-0696-DFA3-AACEBFE42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39913-59E2-A229-A1FB-486EA2774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9BD82-05A5-4BAA-A5A7-AF821F3ABF5A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A4269-1307-0D8D-5E24-54E46F256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0ACD5-7CB4-B0D3-92E3-DE87D89D8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DCB16-DED0-46A5-9F2A-7C94AE70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625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B3AB0-93E8-E57F-C9A4-D94B2E5F8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AD448-3479-11CF-FC7A-2487EFAAD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A7220-9843-2B28-22FE-97B1190C5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9BD82-05A5-4BAA-A5A7-AF821F3ABF5A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C2328-573E-0383-45A2-BB5599E7E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E5F73-9185-A5BD-AF9E-EDC05CC32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DCB16-DED0-46A5-9F2A-7C94AE70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66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8A66C-DB16-8322-D4F2-C04C5523B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70811-B60C-C6ED-616A-570D28E75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1AED2-2165-87A2-DACB-858623F8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9BD82-05A5-4BAA-A5A7-AF821F3ABF5A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59483-12DF-86CA-E861-FAE1C8CE8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5C743-3F84-C361-2E95-575189BF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DCB16-DED0-46A5-9F2A-7C94AE70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351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98B4-856F-76CB-1F72-6EC632CF3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F8B98-5C3F-3E80-72C4-0E35CFC48D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CE32C0-6FED-F480-3FE3-118206252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7596F6-5AA5-B003-CA52-34E181B18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9BD82-05A5-4BAA-A5A7-AF821F3ABF5A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BF2CD-FA21-D993-E0F2-21139B079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B6DF5-30D3-88C7-454B-DD0F7C3E9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DCB16-DED0-46A5-9F2A-7C94AE70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446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86EC7-5E6F-3440-A205-C0B9A08E2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22B83-B20F-335C-A3C9-AF1E9FF39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78956F-75EE-E458-D9E9-9A4D1ACFA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49B91C-76D0-3014-73ED-5CB87F3A01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D2455-274C-E019-BD4F-7DE3847E38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845336-FF20-F570-3296-14E8BF2D2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9BD82-05A5-4BAA-A5A7-AF821F3ABF5A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2F34B5-C129-E08F-B953-05BBF118F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864412-F0FB-A297-193E-27CDBA707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DCB16-DED0-46A5-9F2A-7C94AE70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519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6B0C-FA03-D27F-C6DC-51A85B46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083A78-F7B0-3DFB-0226-888998664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9BD82-05A5-4BAA-A5A7-AF821F3ABF5A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C26A75-D8AD-F639-0020-13F012DCD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B5D92-7D98-7D26-BF0A-727F5BD48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DCB16-DED0-46A5-9F2A-7C94AE70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040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C297BF-4DAD-B79B-DCB3-576E3C920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9BD82-05A5-4BAA-A5A7-AF821F3ABF5A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0916C0-0452-AB58-6A19-50C11B3E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4A837-1310-C51C-E91E-FC1A120DE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DCB16-DED0-46A5-9F2A-7C94AE70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207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28D35-A937-A710-6927-4025673C1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3B3AB-B0E2-DEF0-AF3F-C4B289AC0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90792-75D6-36B5-F87E-2AA3191F9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B7270-C1F0-5903-9D42-B58DA9E66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9BD82-05A5-4BAA-A5A7-AF821F3ABF5A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E0559-ADF2-EB72-C4C3-8389A6CCC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DC316-B88D-E239-F21A-79E842F39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DCB16-DED0-46A5-9F2A-7C94AE70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495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1A246-F705-C1EA-0BA0-DD9D8C700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9F1038-5215-B32F-4980-FBE53B2034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526144-9A72-A070-8E1F-9B8FD91F8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AB501-0FDC-D2D8-6DC9-92AE2FD93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9BD82-05A5-4BAA-A5A7-AF821F3ABF5A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8CB0F-32D0-F8DC-9E6E-FE250A2B3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1FFB91-1C9E-F1FC-80F9-D9D0D31E9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DCB16-DED0-46A5-9F2A-7C94AE70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55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F4716-C87D-0F7F-6BFD-C2D87C072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BA8BCE-C788-F9F6-D10A-4E7156AFD5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71A07-BEC0-5433-F0AE-3FF33CC5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9BD82-05A5-4BAA-A5A7-AF821F3ABF5A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0BCEB-AF57-BF31-371E-2C1877F25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EDFE2-DB13-451F-80D1-5DB2E2314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DCB16-DED0-46A5-9F2A-7C94AE70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848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973935-C633-DE70-284B-B65B297513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B2D9D9-2536-81D9-7652-59B530587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1A2EF-43C6-FAC4-9887-C425E7CBF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9BD82-05A5-4BAA-A5A7-AF821F3ABF5A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BE3AB-0458-E40B-2E2A-D35A75043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7665E-638D-ACE0-D2EC-E6523CA1B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DCB16-DED0-46A5-9F2A-7C94AE70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559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8EB9AA-8052-042D-DE4A-BE4BEBA37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7C816-D5DF-280B-E4A6-843B66890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AD5E7-5C36-35DF-31C2-57DD8A671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9BD82-05A5-4BAA-A5A7-AF821F3ABF5A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20F10-36BB-60BC-F53F-81AB54406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C89B9-DAC0-CB26-B491-C77DCD25F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DCB16-DED0-46A5-9F2A-7C94AE7015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72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46379/jscer.2025.080503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5E805-F882-FB16-F640-5BA9E6E213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LEGAL-EASE: A Legal Text Summarizer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presentation</a:t>
            </a:r>
            <a:endParaRPr lang="en-IN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143C9F-6766-595A-9A79-1D70331FE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219" y="3838011"/>
            <a:ext cx="4139381" cy="2661112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2000" b="1" dirty="0"/>
              <a:t>Team Members:</a:t>
            </a:r>
            <a:endParaRPr lang="en-IN" sz="2000" b="1" dirty="0">
              <a:effectLst/>
            </a:endParaRPr>
          </a:p>
          <a:p>
            <a:pPr algn="l">
              <a:lnSpc>
                <a:spcPct val="100000"/>
              </a:lnSpc>
            </a:pPr>
            <a:r>
              <a:rPr lang="en-IN" sz="2000" dirty="0"/>
              <a:t> -Anna Rose Joshy -TLY23CS028</a:t>
            </a:r>
            <a:endParaRPr lang="en-IN" sz="2000" dirty="0">
              <a:effectLst/>
            </a:endParaRPr>
          </a:p>
          <a:p>
            <a:pPr algn="l">
              <a:lnSpc>
                <a:spcPct val="100000"/>
              </a:lnSpc>
            </a:pPr>
            <a:r>
              <a:rPr lang="en-IN" sz="2000" dirty="0"/>
              <a:t> -</a:t>
            </a:r>
            <a:r>
              <a:rPr lang="en-IN" sz="2000" dirty="0" err="1"/>
              <a:t>Cathereen</a:t>
            </a:r>
            <a:r>
              <a:rPr lang="en-IN" sz="2000" dirty="0"/>
              <a:t> Sebastian -TLY23CS040</a:t>
            </a:r>
            <a:endParaRPr lang="en-IN" sz="2000" dirty="0">
              <a:effectLst/>
            </a:endParaRPr>
          </a:p>
          <a:p>
            <a:pPr algn="l">
              <a:lnSpc>
                <a:spcPct val="100000"/>
              </a:lnSpc>
            </a:pPr>
            <a:r>
              <a:rPr lang="en-IN" sz="2000" dirty="0"/>
              <a:t> -</a:t>
            </a:r>
            <a:r>
              <a:rPr lang="en-IN" sz="2000" dirty="0" err="1"/>
              <a:t>Fasna</a:t>
            </a:r>
            <a:r>
              <a:rPr lang="en-IN" sz="2000" dirty="0"/>
              <a:t> T P -TLY23CS043</a:t>
            </a:r>
            <a:endParaRPr lang="en-IN" sz="2000" dirty="0">
              <a:effectLst/>
            </a:endParaRPr>
          </a:p>
          <a:p>
            <a:pPr algn="l">
              <a:lnSpc>
                <a:spcPct val="100000"/>
              </a:lnSpc>
            </a:pPr>
            <a:r>
              <a:rPr lang="en-IN" sz="2000" dirty="0"/>
              <a:t> -Fathima Juhana K -TLY23CS046</a:t>
            </a:r>
            <a:endParaRPr lang="en-IN" sz="2000" dirty="0">
              <a:effectLst/>
            </a:endParaRPr>
          </a:p>
          <a:p>
            <a:pPr algn="l">
              <a:lnSpc>
                <a:spcPct val="100000"/>
              </a:lnSpc>
            </a:pPr>
            <a:r>
              <a:rPr lang="en-IN" sz="2000" b="1" dirty="0"/>
              <a:t> Guide In Charge: </a:t>
            </a:r>
            <a:r>
              <a:rPr lang="en-IN" sz="2000" dirty="0"/>
              <a:t>Rinsha T M</a:t>
            </a:r>
            <a:endParaRPr lang="en-IN" sz="2000" dirty="0">
              <a:effectLst/>
            </a:endParaRPr>
          </a:p>
          <a:p>
            <a:pPr algn="l"/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91742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1A5A8-268B-1AB8-0D0B-A4E244285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597B0-DA8A-D9CB-5F9C-1608BA6D4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Terms &amp; Conditions and Privacy Policies are long and complex.</a:t>
            </a:r>
          </a:p>
          <a:p>
            <a:pPr fontAlgn="base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often skip reading them.</a:t>
            </a:r>
          </a:p>
          <a:p>
            <a:pPr fontAlgn="base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clauses are hidden in legal jargon.</a:t>
            </a:r>
          </a:p>
          <a:p>
            <a:pPr fontAlgn="base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tool that simplifies and highlights key risks.</a:t>
            </a:r>
          </a:p>
        </p:txBody>
      </p:sp>
    </p:spTree>
    <p:extLst>
      <p:ext uri="{BB962C8B-B14F-4D97-AF65-F5344CB8AC3E}">
        <p14:creationId xmlns:p14="http://schemas.microsoft.com/office/powerpoint/2010/main" val="3830819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272E8-ED5A-1522-B1B4-23830D5D6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CB501-D24D-ECA1-E2D7-A3C64F9AE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45091" cy="4351338"/>
          </a:xfrm>
        </p:spPr>
        <p:txBody>
          <a:bodyPr>
            <a:noAutofit/>
          </a:bodyPr>
          <a:lstStyle/>
          <a:p>
            <a:pPr marL="0" indent="0" algn="ctr" fontAlgn="base">
              <a:lnSpc>
                <a:spcPct val="170000"/>
              </a:lnSpc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“Users often accept legal documents without understanding hidden risk clauses due to complex language and lengthy content.</a:t>
            </a:r>
            <a:b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lack of clarity can lead to uninformed decisions and potential privacy or financial risks.”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313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B07A-FD07-6136-2D2F-9942F29C4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5347306-5B2F-296C-396D-0BA92AA719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54863"/>
            <a:ext cx="11083724" cy="3892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Legal documents are complex (e.g., app T&amp;C) → no simplification.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tools give summaries but no risk analysis (e.g.,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TermsWeUse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 like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TermsCheck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John Snow Labs NLP exist → no Risk Meter.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still miss key clauses (e.g., auto‑renewal, liability) → manual effort needed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912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F4EC6-AA64-CF45-DB04-BF978D662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72676-24CF-9881-A779-631380F41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Web‑based platform using Python and NLP. </a:t>
            </a:r>
          </a:p>
          <a:p>
            <a:pPr fontAlgn="base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paste or upload Terms &amp; Conditions or Privacy Policy content.</a:t>
            </a:r>
          </a:p>
          <a:p>
            <a:pPr fontAlgn="base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breaks text into clauses using NLP techniques.</a:t>
            </a:r>
          </a:p>
          <a:p>
            <a:pPr fontAlgn="base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Risk‑prone clauses highlighted and grouped into categories.</a:t>
            </a:r>
          </a:p>
          <a:p>
            <a:pPr fontAlgn="base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displayed with a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Meter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user‑friendly format.</a:t>
            </a:r>
          </a:p>
          <a:p>
            <a:pPr marL="0" indent="0">
              <a:lnSpc>
                <a:spcPct val="150000"/>
              </a:lnSpc>
              <a:buNone/>
            </a:pPr>
            <a:br>
              <a:rPr lang="en-GB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520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52B6A-45C7-4E72-D5F0-102A0498D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D5C16-5E54-EBA9-9C4B-E956794DA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fontAlgn="base">
              <a:lnSpc>
                <a:spcPct val="150000"/>
              </a:lnSpc>
              <a:buNone/>
            </a:pPr>
            <a:br>
              <a:rPr lang="en-I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9990FA-0044-7643-E69E-22DAE1AE5074}"/>
              </a:ext>
            </a:extLst>
          </p:cNvPr>
          <p:cNvSpPr txBox="1"/>
          <p:nvPr/>
        </p:nvSpPr>
        <p:spPr>
          <a:xfrm>
            <a:off x="838198" y="1504709"/>
            <a:ext cx="10515601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simplify legal documents into plain language.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and highlight risky clauses (data sharing, auto‑renewal,                   liability waivers).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quick Risk Meter for trust assessment.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user‑friendly dashboard for non‑lawyers.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promote awareness and informed consent among users,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F67353C5-1585-2A97-9EB4-DA48973CA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748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FBB39-68AF-75BD-6BF6-8A5A8FA9A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C7E54-C3CC-6985-7B5A-A59DDE1B8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users accept legal documents blindly without reading </a:t>
            </a:r>
          </a:p>
          <a:p>
            <a:pPr fontAlgn="base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clauses can cause privacy loss, financial risks, or restricted rights</a:t>
            </a:r>
          </a:p>
          <a:p>
            <a:pPr fontAlgn="base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are too technical or incomplete for everyday users</a:t>
            </a:r>
          </a:p>
          <a:p>
            <a:pPr fontAlgn="base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simple, awareness‑focused solution that empowers non‑lawyers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219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93D88-1B0A-76EC-B370-4CFE865AD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6A719-52CE-12B5-4521-052811C84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407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1] E. A. Kadhim, M.-R. Feizi-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Derakhshi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H. S.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Aghdasi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,"Advanced Text Summarization Model Incorporating NLP Techniques and Feature-Based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Scoring,"IEEE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Access, vol. 13, pp. 19302-19308, Jan. 2025,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10.1109/ACCESS.2025.3528830.</a:t>
            </a:r>
          </a:p>
          <a:p>
            <a:pPr marL="0" indent="0"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2]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N. J. Paulraj, "Natural Language Processing on Clinical Notes: Advanced Techniques for Risk Prediction and </a:t>
            </a:r>
            <a:r>
              <a:rPr lang="en-GB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Summarization,"Journal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Computer Science and Technology Studies, vol. 7, no. 3, pp. 494-502, May 2025, </a:t>
            </a:r>
            <a:r>
              <a:rPr lang="en-GB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10.32996/jcsts.2025.7.3.56.</a:t>
            </a:r>
          </a:p>
          <a:p>
            <a:pPr marL="0" indent="0">
              <a:buNone/>
            </a:pP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3] N. Jain, N. Sharma, R. Yadav, and N. </a:t>
            </a:r>
            <a:r>
              <a:rPr lang="en-GB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Kumar,"TEXT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SUMMARIZATION USING </a:t>
            </a:r>
            <a:r>
              <a:rPr lang="en-GB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NLP,"Journal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Science, Computing and Engineering Research (JSCER), vol. 8, no. 5, pp. 1-6, May 2025,doi: 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https://doi.org/10.46379/jscer.2025.080503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4] M. H. Kazemi and A. </a:t>
            </a:r>
            <a:r>
              <a:rPr lang="en-GB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Alvanchi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,"Application of NLP-Based Models in Automated Detection of Risky Contract Statements Written in Complex Script </a:t>
            </a:r>
            <a:r>
              <a:rPr lang="en-GB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System,"Expert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Systems with Applications, vol. 259, 125296, Jan. 2025,doi: 10.1016/j.eswa.2024.125296.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666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0EF56-07B5-F5E8-B4F0-B1887295F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32DEF-374C-D22C-BCE7-A2E1F7DF1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907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5] S. Barrett, V. Ramasamy, G. Dorai, and B. Boswell, “Navigating Privacy Policies with NLP and Graph Mining: Advancements in User-Centric Legal Document Analysis,”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SoutheastCon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2025, 2025,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doi:10.1109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SOUTHEASTCON56624.2025.10971616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6] R. Vasanthi,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Haritheesathan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R. DK, D. Kumar, and H. Kumar, “Automated Terms and Condition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Natural Language Processing,”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ICETITE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2024, 2024,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10.1109/IC-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ETITE58242.2024.10493329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7] P. A. Poornima, N. K. V. Nagaraja, and M. Venugopalan, “Legal Contract Analysis and Risk Assessment using Pre-Trained Legal-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Law-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Proc. Int. Conf. on Integrated Circuits and Communication Systems (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ICICACS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Mar. 2025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8] N. K.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Mulunguzia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B.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Halubanza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Halubanza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Namuchile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B. Mulungushi, Z. Kaluba, and E.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Nyirenda,“AI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-Powered System for Simplifying and Analyzing Terms and Conditions,” Proc. Seventh Int. Conf. on Information and Communication Technologies (ICT), Lusaka, Zambia, Oct. 2025.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24261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47FDA-63FA-44E1-435E-EAA9291E7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50" y="207809"/>
            <a:ext cx="10515600" cy="480449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Review-Comp Table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1796F8B-0943-7FAA-3AA5-DB523428E5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0531747"/>
              </p:ext>
            </p:extLst>
          </p:nvPr>
        </p:nvGraphicFramePr>
        <p:xfrm>
          <a:off x="167640" y="688258"/>
          <a:ext cx="11811000" cy="602696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55520">
                  <a:extLst>
                    <a:ext uri="{9D8B030D-6E8A-4147-A177-3AD203B41FA5}">
                      <a16:colId xmlns:a16="http://schemas.microsoft.com/office/drawing/2014/main" val="168400464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3552862110"/>
                    </a:ext>
                  </a:extLst>
                </a:gridCol>
                <a:gridCol w="2731770">
                  <a:extLst>
                    <a:ext uri="{9D8B030D-6E8A-4147-A177-3AD203B41FA5}">
                      <a16:colId xmlns:a16="http://schemas.microsoft.com/office/drawing/2014/main" val="3509455228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4210384145"/>
                    </a:ext>
                  </a:extLst>
                </a:gridCol>
              </a:tblGrid>
              <a:tr h="62238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&amp; Year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Idea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Scope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273969818"/>
                  </a:ext>
                </a:extLst>
              </a:tr>
              <a:tr h="109165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AI-Powered System for Simplifying and </a:t>
                      </a:r>
                      <a:r>
                        <a:rPr lang="en-GB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Analyzing</a:t>
                      </a:r>
                      <a:r>
                        <a:rPr lang="en-GB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Terms and Conditions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A mobile app that uses AI (GPT) to summarize Terms &amp; Conditions and flag risky clauses from documents, URLs, or installed apps, helping users understand legal agreements quickly.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Works only in English, can be slow with large files, and needs more user feedback for accuracy.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Add multilingual support, crowdsourced feedback, and offline optimization.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365249721"/>
                  </a:ext>
                </a:extLst>
              </a:tr>
              <a:tr h="1411674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Privacy Policy Knowledge Graph Construction using NLP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The work employs NLP techniques such as entity extraction and relationship identification to convert privacy policy text into structured knowledge graphs, enabling systematic analysis of data collection and sharing practices.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quality of the knowledge graph depends on the accuracy of NLP-based entity and relationship extraction, which may not capture all implicit legal interpretations.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framework can be applied to a broader set of privacy policies and refined to improve extraction accuracy and graph quality.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220271967"/>
                  </a:ext>
                </a:extLst>
              </a:tr>
              <a:tr h="1199923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Text Summarization Model Incorporating NLP Techniques and Feature-Based Scoring (2025)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features like NER and sentence scoring to make better summaries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more computing power, not easy to use in all areas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deep learning, support more languages, use in real apps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815550375"/>
                  </a:ext>
                </a:extLst>
              </a:tr>
              <a:tr h="13834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of NLP-based models in automated detection of risky contract statements written in complex script system</a:t>
                      </a:r>
                      <a:br>
                        <a:rPr lang="en-GB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paper proposes NLP-based machine learning and deep learning models to automatically detect risky clauses in legal contracts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explain decisions </a:t>
                      </a:r>
                      <a:r>
                        <a:rPr lang="en-GB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clearly,Limited</a:t>
                      </a: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generalization across different languages, domains, or contract types.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can be added to apps or </a:t>
                      </a:r>
                      <a:r>
                        <a:rPr lang="en-GB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websites,Explains</a:t>
                      </a:r>
                      <a:r>
                        <a:rPr lang="en-GB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why a clause is risky.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401391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0202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799DA-8764-B67B-C97D-089D68D4B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4AD3-DEEA-040B-9CC2-A2B21093D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50" y="207809"/>
            <a:ext cx="10515600" cy="480449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Review-Comp Table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142BF9-509F-E184-019D-351C62022D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6668691"/>
              </p:ext>
            </p:extLst>
          </p:nvPr>
        </p:nvGraphicFramePr>
        <p:xfrm>
          <a:off x="114299" y="688258"/>
          <a:ext cx="11809615" cy="615078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40775">
                  <a:extLst>
                    <a:ext uri="{9D8B030D-6E8A-4147-A177-3AD203B41FA5}">
                      <a16:colId xmlns:a16="http://schemas.microsoft.com/office/drawing/2014/main" val="168400464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3552862110"/>
                    </a:ext>
                  </a:extLst>
                </a:gridCol>
                <a:gridCol w="2731770">
                  <a:extLst>
                    <a:ext uri="{9D8B030D-6E8A-4147-A177-3AD203B41FA5}">
                      <a16:colId xmlns:a16="http://schemas.microsoft.com/office/drawing/2014/main" val="3509455228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4210384145"/>
                    </a:ext>
                  </a:extLst>
                </a:gridCol>
              </a:tblGrid>
              <a:tr h="527951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&amp; Year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Idea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Scope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273969818"/>
                  </a:ext>
                </a:extLst>
              </a:tr>
              <a:tr h="146653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Summarization Using NLP(2025)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web-based text summarization application  using N L P techniques that uses a  model (BART-large-CNN) to generate abstractive summaries that capture the core meaning of the original text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 not give accurate summaries for very long or domain-specific documents (like medical or legal texts).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by adding support for multiple </a:t>
                      </a:r>
                      <a:r>
                        <a:rPr lang="en-GB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languagescan</a:t>
                      </a: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be expanded by combining extractive and abstractive summarization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365249721"/>
                  </a:ext>
                </a:extLst>
              </a:tr>
              <a:tr h="1202555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Natural Language Processing on Clinical Notes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(2025)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NLP to </a:t>
                      </a:r>
                      <a:r>
                        <a:rPr lang="en-GB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clinical notes for </a:t>
                      </a:r>
                      <a:r>
                        <a:rPr lang="en-GB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prediction and automatic summarization</a:t>
                      </a:r>
                      <a:endParaRPr lang="en-GB" sz="1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issues, high computation cost, limited explainability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AI, explainable NLP, real-time clinical decision support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220271967"/>
                  </a:ext>
                </a:extLst>
              </a:tr>
              <a:tr h="146653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Legal Contract Analysis and Risk Assessment Using Legal-T5 and Law-GPT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paper uses Legal-T5 to summarize contracts and Law-GPT to identify risks. Similar clauses are grouped to make contract analysis faster and more organized.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Needs high computing power, Risk results require human checking, Not designed for country-specific laws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Reduce system complexity, Add jurisdiction-based legal analysis, Improve risk classification accuracy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815550375"/>
                  </a:ext>
                </a:extLst>
              </a:tr>
              <a:tr h="146653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Terms and Condition Analyser using Natural Language Processing(2024)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web scraping + NLP to extract and </a:t>
                      </a:r>
                      <a:r>
                        <a:rPr lang="en-GB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website Terms &amp; </a:t>
                      </a:r>
                      <a:r>
                        <a:rPr lang="en-GB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Conditions.Applies</a:t>
                      </a: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TextRank</a:t>
                      </a: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summarization and keyword extraction to simplify long legal </a:t>
                      </a:r>
                      <a:r>
                        <a:rPr lang="en-GB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text.Categorizes</a:t>
                      </a: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clauses into high, medium, and low risk for user awareness.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mainly on keyword-based risk categorization, which may reduce </a:t>
                      </a:r>
                      <a:r>
                        <a:rPr lang="en-GB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accuracy.Limited</a:t>
                      </a: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handling of contextual or semantic interpretation of complex legal clauses.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 deep learning / contextual NLP models for better semantic </a:t>
                      </a:r>
                      <a:r>
                        <a:rPr lang="en-GB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understanding.Provide</a:t>
                      </a:r>
                      <a:r>
                        <a:rPr lang="en-GB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real-time browser integration and multilingual policy analysis.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401391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0801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19712-BC3E-80C1-14A2-9A839AB6A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 Specifications(SRS)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D9CA9-B609-1A34-C515-25B44026B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lang="en-IN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Paste/upload legal text</a:t>
            </a:r>
          </a:p>
          <a:p>
            <a:pPr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 NLP + keyword detection.</a:t>
            </a:r>
          </a:p>
          <a:p>
            <a:pPr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Risk clauses + Risk Meter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Non‑Functional Requirements</a:t>
            </a:r>
            <a:endParaRPr lang="en-IN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Usability: Simple web interface</a:t>
            </a:r>
          </a:p>
          <a:p>
            <a:pPr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 Quick clause analysis</a:t>
            </a:r>
          </a:p>
          <a:p>
            <a:pPr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Portability: Runs on any browser</a:t>
            </a:r>
          </a:p>
          <a:p>
            <a:pPr fontAlgn="base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Extendable to more risk categories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4013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DD289-695C-5B6F-91AE-6475909FA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BD9B2-4BC5-784A-008B-DC292F3D7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IN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End: HTML, CSS, JavaScript</a:t>
            </a:r>
          </a:p>
          <a:p>
            <a:pPr fontAlgn="base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libraries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NLTK)</a:t>
            </a:r>
          </a:p>
          <a:p>
            <a:pPr fontAlgn="base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End: Python (Flask)</a:t>
            </a:r>
          </a:p>
          <a:p>
            <a:pPr fontAlgn="base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SQLite</a:t>
            </a:r>
          </a:p>
          <a:p>
            <a:pPr fontAlgn="base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OS: Windows/Linux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 : Visual Studio Code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: Google Chrome / Firefox</a:t>
            </a:r>
          </a:p>
          <a:p>
            <a:pPr>
              <a:lnSpc>
                <a:spcPct val="1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210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3E693-929A-1B15-9129-9D595B017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01E44-3B4A-897E-895E-030E2B0D4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i3 or above</a:t>
            </a:r>
          </a:p>
          <a:p>
            <a:pPr fontAlgn="base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4 GB</a:t>
            </a:r>
          </a:p>
          <a:p>
            <a:pPr fontAlgn="base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Device: PC/Laptop with internet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9110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C68ED77-773B-026A-3F8E-0C1F61195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319338"/>
            <a:ext cx="10515600" cy="1325562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DOCUMENT </a:t>
            </a:r>
          </a:p>
        </p:txBody>
      </p:sp>
    </p:spTree>
    <p:extLst>
      <p:ext uri="{BB962C8B-B14F-4D97-AF65-F5344CB8AC3E}">
        <p14:creationId xmlns:p14="http://schemas.microsoft.com/office/powerpoint/2010/main" val="2199384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642A7-E599-CC32-E973-D6265D655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C37F65-09D8-6679-C7A4-4E5B235F39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81" y="1690688"/>
            <a:ext cx="10695006" cy="4802187"/>
          </a:xfrm>
        </p:spPr>
      </p:pic>
    </p:spTree>
    <p:extLst>
      <p:ext uri="{BB962C8B-B14F-4D97-AF65-F5344CB8AC3E}">
        <p14:creationId xmlns:p14="http://schemas.microsoft.com/office/powerpoint/2010/main" val="3994333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11A89-8214-4A7E-8A0B-10F0C0EDE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3440DF-0A13-E64C-B3B8-AF8D90AA70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991" y="1361208"/>
            <a:ext cx="8323118" cy="5382491"/>
          </a:xfrm>
        </p:spPr>
      </p:pic>
    </p:spTree>
    <p:extLst>
      <p:ext uri="{BB962C8B-B14F-4D97-AF65-F5344CB8AC3E}">
        <p14:creationId xmlns:p14="http://schemas.microsoft.com/office/powerpoint/2010/main" val="1237842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4B80A6-BE9F-A43A-3E82-92341C42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996" y="415636"/>
            <a:ext cx="8907118" cy="644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712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03F07B-FF72-342A-F903-A39926F19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621" y="488372"/>
            <a:ext cx="8040414" cy="636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25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01298-6480-969B-7ACD-098DF8FA1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C71939-0114-2972-5588-89AB7CACF9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5280"/>
            <a:ext cx="8178800" cy="5333999"/>
          </a:xfrm>
        </p:spPr>
      </p:pic>
    </p:spTree>
    <p:extLst>
      <p:ext uri="{BB962C8B-B14F-4D97-AF65-F5344CB8AC3E}">
        <p14:creationId xmlns:p14="http://schemas.microsoft.com/office/powerpoint/2010/main" val="2249364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2B33D-3A7A-8246-5E41-A7F5645D5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6D78769-5F9C-EB00-407F-404E183C8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208268"/>
              </p:ext>
            </p:extLst>
          </p:nvPr>
        </p:nvGraphicFramePr>
        <p:xfrm>
          <a:off x="838200" y="2493525"/>
          <a:ext cx="9011856" cy="3652630"/>
        </p:xfrm>
        <a:graphic>
          <a:graphicData uri="http://schemas.openxmlformats.org/drawingml/2006/table">
            <a:tbl>
              <a:tblPr firstRow="1" bandRow="1"/>
              <a:tblGrid>
                <a:gridCol w="2252964">
                  <a:extLst>
                    <a:ext uri="{9D8B030D-6E8A-4147-A177-3AD203B41FA5}">
                      <a16:colId xmlns:a16="http://schemas.microsoft.com/office/drawing/2014/main" val="870032735"/>
                    </a:ext>
                  </a:extLst>
                </a:gridCol>
                <a:gridCol w="2252964">
                  <a:extLst>
                    <a:ext uri="{9D8B030D-6E8A-4147-A177-3AD203B41FA5}">
                      <a16:colId xmlns:a16="http://schemas.microsoft.com/office/drawing/2014/main" val="2672261095"/>
                    </a:ext>
                  </a:extLst>
                </a:gridCol>
                <a:gridCol w="2252964">
                  <a:extLst>
                    <a:ext uri="{9D8B030D-6E8A-4147-A177-3AD203B41FA5}">
                      <a16:colId xmlns:a16="http://schemas.microsoft.com/office/drawing/2014/main" val="2925926580"/>
                    </a:ext>
                  </a:extLst>
                </a:gridCol>
                <a:gridCol w="2252964">
                  <a:extLst>
                    <a:ext uri="{9D8B030D-6E8A-4147-A177-3AD203B41FA5}">
                      <a16:colId xmlns:a16="http://schemas.microsoft.com/office/drawing/2014/main" val="189861732"/>
                    </a:ext>
                  </a:extLst>
                </a:gridCol>
              </a:tblGrid>
              <a:tr h="63402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FIELD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DATA TYPE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DESCRIPTION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CONSTRAINTS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41201"/>
                  </a:ext>
                </a:extLst>
              </a:tr>
              <a:tr h="630081">
                <a:tc>
                  <a:txBody>
                    <a:bodyPr/>
                    <a:lstStyle/>
                    <a:p>
                      <a:r>
                        <a:rPr lang="en-IN" dirty="0" err="1"/>
                        <a:t>level_id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INTEGER  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Risk level ID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Primary Key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378607"/>
                  </a:ext>
                </a:extLst>
              </a:tr>
              <a:tr h="630081">
                <a:tc>
                  <a:txBody>
                    <a:bodyPr/>
                    <a:lstStyle/>
                    <a:p>
                      <a:r>
                        <a:rPr lang="en-IN" dirty="0"/>
                        <a:t> </a:t>
                      </a:r>
                      <a:r>
                        <a:rPr lang="en-IN" dirty="0" err="1"/>
                        <a:t>level_name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Risk level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678935"/>
                  </a:ext>
                </a:extLst>
              </a:tr>
              <a:tr h="630081">
                <a:tc>
                  <a:txBody>
                    <a:bodyPr/>
                    <a:lstStyle/>
                    <a:p>
                      <a:r>
                        <a:rPr lang="en-IN" dirty="0" err="1"/>
                        <a:t>min_score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INTEGER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Minimum risk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443363"/>
                  </a:ext>
                </a:extLst>
              </a:tr>
              <a:tr h="630081">
                <a:tc>
                  <a:txBody>
                    <a:bodyPr/>
                    <a:lstStyle/>
                    <a:p>
                      <a:r>
                        <a:rPr lang="en-IN" dirty="0" err="1"/>
                        <a:t>max_score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INTEGER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Maximum risk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504022"/>
                  </a:ext>
                </a:extLst>
              </a:tr>
              <a:tr h="498283"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Meaning of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05370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8485D8C-C7A1-6FDD-CC8E-24B430E052BD}"/>
              </a:ext>
            </a:extLst>
          </p:cNvPr>
          <p:cNvSpPr txBox="1"/>
          <p:nvPr/>
        </p:nvSpPr>
        <p:spPr>
          <a:xfrm>
            <a:off x="838200" y="1433622"/>
            <a:ext cx="12095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1.Risk_level</a:t>
            </a:r>
          </a:p>
        </p:txBody>
      </p:sp>
    </p:spTree>
    <p:extLst>
      <p:ext uri="{BB962C8B-B14F-4D97-AF65-F5344CB8AC3E}">
        <p14:creationId xmlns:p14="http://schemas.microsoft.com/office/powerpoint/2010/main" val="11073831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2EBBE-2611-5CBA-B4B5-BF7DE70EF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9936"/>
            <a:ext cx="10515600" cy="5777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Risk_clause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A5C094-C78C-72F2-9EA3-1CBEA3763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279848"/>
              </p:ext>
            </p:extLst>
          </p:nvPr>
        </p:nvGraphicFramePr>
        <p:xfrm>
          <a:off x="838199" y="1448870"/>
          <a:ext cx="9266500" cy="4279398"/>
        </p:xfrm>
        <a:graphic>
          <a:graphicData uri="http://schemas.openxmlformats.org/drawingml/2006/table">
            <a:tbl>
              <a:tblPr firstRow="1" bandRow="1"/>
              <a:tblGrid>
                <a:gridCol w="2316625">
                  <a:extLst>
                    <a:ext uri="{9D8B030D-6E8A-4147-A177-3AD203B41FA5}">
                      <a16:colId xmlns:a16="http://schemas.microsoft.com/office/drawing/2014/main" val="3119890516"/>
                    </a:ext>
                  </a:extLst>
                </a:gridCol>
                <a:gridCol w="2316625">
                  <a:extLst>
                    <a:ext uri="{9D8B030D-6E8A-4147-A177-3AD203B41FA5}">
                      <a16:colId xmlns:a16="http://schemas.microsoft.com/office/drawing/2014/main" val="2193196200"/>
                    </a:ext>
                  </a:extLst>
                </a:gridCol>
                <a:gridCol w="2316625">
                  <a:extLst>
                    <a:ext uri="{9D8B030D-6E8A-4147-A177-3AD203B41FA5}">
                      <a16:colId xmlns:a16="http://schemas.microsoft.com/office/drawing/2014/main" val="3438833933"/>
                    </a:ext>
                  </a:extLst>
                </a:gridCol>
                <a:gridCol w="2316625">
                  <a:extLst>
                    <a:ext uri="{9D8B030D-6E8A-4147-A177-3AD203B41FA5}">
                      <a16:colId xmlns:a16="http://schemas.microsoft.com/office/drawing/2014/main" val="2231164289"/>
                    </a:ext>
                  </a:extLst>
                </a:gridCol>
              </a:tblGrid>
              <a:tr h="60655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FIELD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DATA TYPE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DESCRIPTION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CONSTRAINTS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205257"/>
                  </a:ext>
                </a:extLst>
              </a:tr>
              <a:tr h="606553">
                <a:tc>
                  <a:txBody>
                    <a:bodyPr/>
                    <a:lstStyle/>
                    <a:p>
                      <a:r>
                        <a:rPr lang="en-IN" dirty="0"/>
                        <a:t> </a:t>
                      </a:r>
                      <a:r>
                        <a:rPr lang="en-IN" dirty="0" err="1"/>
                        <a:t>clause_id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INTEGER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Unique clause 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Primary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2177"/>
                  </a:ext>
                </a:extLst>
              </a:tr>
              <a:tr h="606553">
                <a:tc>
                  <a:txBody>
                    <a:bodyPr/>
                    <a:lstStyle/>
                    <a:p>
                      <a:r>
                        <a:rPr lang="en-IN" dirty="0"/>
                        <a:t> </a:t>
                      </a:r>
                      <a:r>
                        <a:rPr lang="en-IN" dirty="0" err="1"/>
                        <a:t>clause_text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Extracted legal clause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064803"/>
                  </a:ext>
                </a:extLst>
              </a:tr>
              <a:tr h="606553">
                <a:tc>
                  <a:txBody>
                    <a:bodyPr/>
                    <a:lstStyle/>
                    <a:p>
                      <a:r>
                        <a:rPr lang="en-IN" dirty="0"/>
                        <a:t> </a:t>
                      </a:r>
                      <a:r>
                        <a:rPr lang="en-IN" dirty="0" err="1"/>
                        <a:t>risk_keywords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Keywords triggering risk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646976"/>
                  </a:ext>
                </a:extLst>
              </a:tr>
              <a:tr h="606553">
                <a:tc>
                  <a:txBody>
                    <a:bodyPr/>
                    <a:lstStyle/>
                    <a:p>
                      <a:r>
                        <a:rPr lang="en-IN" dirty="0" err="1"/>
                        <a:t>simplified_text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Simplified explanation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531479"/>
                  </a:ext>
                </a:extLst>
              </a:tr>
              <a:tr h="606553">
                <a:tc>
                  <a:txBody>
                    <a:bodyPr/>
                    <a:lstStyle/>
                    <a:p>
                      <a:r>
                        <a:rPr lang="en-IN" dirty="0" err="1"/>
                        <a:t>risk_score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INTEGER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Risk score (0–100)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773135"/>
                  </a:ext>
                </a:extLst>
              </a:tr>
              <a:tr h="606553">
                <a:tc>
                  <a:txBody>
                    <a:bodyPr/>
                    <a:lstStyle/>
                    <a:p>
                      <a:r>
                        <a:rPr lang="en-IN" dirty="0" err="1"/>
                        <a:t>level_id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INTEGER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Assigned risk level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Foreign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686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8504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4AA9F-DF0B-BCBC-320D-679BCCB66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Design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1280F17-F1F1-B885-FFDA-ECEFA9EAEE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600" y="1825625"/>
            <a:ext cx="8290560" cy="4351338"/>
          </a:xfrm>
        </p:spPr>
      </p:pic>
    </p:spTree>
    <p:extLst>
      <p:ext uri="{BB962C8B-B14F-4D97-AF65-F5344CB8AC3E}">
        <p14:creationId xmlns:p14="http://schemas.microsoft.com/office/powerpoint/2010/main" val="1866660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98873-0079-0F0B-7781-57AAAD5CC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871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6C6ED7-1BAE-D05B-33F5-FA8DDA67B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4" r="3156" b="8074"/>
          <a:stretch>
            <a:fillRect/>
          </a:stretch>
        </p:blipFill>
        <p:spPr>
          <a:xfrm>
            <a:off x="2186866" y="1372235"/>
            <a:ext cx="7485454" cy="48361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5222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8139CA7-A25C-646D-F866-4C8AA1147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67" t="5419" r="33333" b="2134"/>
          <a:stretch>
            <a:fillRect/>
          </a:stretch>
        </p:blipFill>
        <p:spPr>
          <a:xfrm>
            <a:off x="599440" y="518160"/>
            <a:ext cx="4145280" cy="57200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860987-FE61-3E90-34BE-3E642A658D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84" t="3023" r="26917" b="4694"/>
          <a:stretch>
            <a:fillRect/>
          </a:stretch>
        </p:blipFill>
        <p:spPr>
          <a:xfrm>
            <a:off x="5852160" y="518160"/>
            <a:ext cx="5547360" cy="56184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3887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0F297-6757-527B-3362-2BC44EB2E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25% Completed Project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723AC7-D05A-8DA2-6DE1-4DED1CE247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815234"/>
            <a:ext cx="4970318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D2659B-7005-CC97-5597-9C029DCBC1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701" y="1815234"/>
            <a:ext cx="4970318" cy="4351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0DE3D0-6383-BA54-93F8-08BEDC300081}"/>
              </a:ext>
            </a:extLst>
          </p:cNvPr>
          <p:cNvSpPr txBox="1"/>
          <p:nvPr/>
        </p:nvSpPr>
        <p:spPr>
          <a:xfrm>
            <a:off x="2599443" y="6291118"/>
            <a:ext cx="83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Landing page                                                           Upload &amp; Input  Page</a:t>
            </a:r>
          </a:p>
        </p:txBody>
      </p:sp>
    </p:spTree>
    <p:extLst>
      <p:ext uri="{BB962C8B-B14F-4D97-AF65-F5344CB8AC3E}">
        <p14:creationId xmlns:p14="http://schemas.microsoft.com/office/powerpoint/2010/main" val="29174165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4491E8-0D59-10F6-DCAC-F704D62A95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795" y="1063480"/>
            <a:ext cx="8676410" cy="473103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CFEBA4-BF6E-E9C7-D37A-F733905A86AA}"/>
              </a:ext>
            </a:extLst>
          </p:cNvPr>
          <p:cNvSpPr txBox="1"/>
          <p:nvPr/>
        </p:nvSpPr>
        <p:spPr>
          <a:xfrm>
            <a:off x="4738254" y="5870864"/>
            <a:ext cx="427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Clause Risk Analysis Page</a:t>
            </a:r>
          </a:p>
        </p:txBody>
      </p:sp>
    </p:spTree>
    <p:extLst>
      <p:ext uri="{BB962C8B-B14F-4D97-AF65-F5344CB8AC3E}">
        <p14:creationId xmlns:p14="http://schemas.microsoft.com/office/powerpoint/2010/main" val="39916709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02E54-99E7-8050-393C-2BDF3AB2C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E04AE-6CE5-FA9C-C816-059231D66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2342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9A023-4859-87F1-02A9-33A06F055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1C7E6-7B83-B68C-CF8A-4B082C71F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Legal‑Ease simplifies complex legal documents.</a:t>
            </a:r>
          </a:p>
          <a:p>
            <a:pPr fontAlgn="base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Highlights risky clauses clearly.</a:t>
            </a:r>
          </a:p>
          <a:p>
            <a:pPr fontAlgn="base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a Risk Meter for awareness.</a:t>
            </a:r>
          </a:p>
          <a:p>
            <a:pPr fontAlgn="base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informed decision‑making.</a:t>
            </a:r>
          </a:p>
          <a:p>
            <a:pPr marL="0" indent="0">
              <a:lnSpc>
                <a:spcPct val="150000"/>
              </a:lnSpc>
              <a:buNone/>
            </a:pPr>
            <a:br>
              <a:rPr lang="en-GB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1732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50C57-833D-4D43-ADF9-639650D06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5835"/>
          </a:xfrm>
        </p:spPr>
        <p:txBody>
          <a:bodyPr>
            <a:normAutofit/>
          </a:bodyPr>
          <a:lstStyle/>
          <a:p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br>
              <a:rPr lang="en-IN" sz="7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  <a:b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252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1689</Words>
  <Application>Microsoft Office PowerPoint</Application>
  <PresentationFormat>Widescreen</PresentationFormat>
  <Paragraphs>188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Times New Roman</vt:lpstr>
      <vt:lpstr>Calibri Light</vt:lpstr>
      <vt:lpstr>Office Theme</vt:lpstr>
      <vt:lpstr>LEGAL-EASE: A Legal Text Summarizer Mini Project presentation</vt:lpstr>
      <vt:lpstr>Introduction</vt:lpstr>
      <vt:lpstr>Problem Statement</vt:lpstr>
      <vt:lpstr>Existing Solutions</vt:lpstr>
      <vt:lpstr>Proposed Solution</vt:lpstr>
      <vt:lpstr>Objectives</vt:lpstr>
      <vt:lpstr>Motivation</vt:lpstr>
      <vt:lpstr>Literature Review</vt:lpstr>
      <vt:lpstr>Literature Review</vt:lpstr>
      <vt:lpstr>Literature Review-Comp Table</vt:lpstr>
      <vt:lpstr>Literature Review-Comp Table</vt:lpstr>
      <vt:lpstr>Software Requirement Specifications(SRS)</vt:lpstr>
      <vt:lpstr>Software Requirements</vt:lpstr>
      <vt:lpstr>Hardware Requirements</vt:lpstr>
      <vt:lpstr>SYSTEM DESIGN DOCUMENT </vt:lpstr>
      <vt:lpstr>System Architecture</vt:lpstr>
      <vt:lpstr>Data Flow Diagram</vt:lpstr>
      <vt:lpstr>PowerPoint Presentation</vt:lpstr>
      <vt:lpstr>PowerPoint Presentation</vt:lpstr>
      <vt:lpstr>Use Case Diagram</vt:lpstr>
      <vt:lpstr>Database Design</vt:lpstr>
      <vt:lpstr>PowerPoint Presentation</vt:lpstr>
      <vt:lpstr>Page Design</vt:lpstr>
      <vt:lpstr>GUI</vt:lpstr>
      <vt:lpstr>PowerPoint Presentation</vt:lpstr>
      <vt:lpstr>25% Completed Project</vt:lpstr>
      <vt:lpstr>PowerPoint Presentation</vt:lpstr>
      <vt:lpstr>Demo Video</vt:lpstr>
      <vt:lpstr>Conclusion</vt:lpstr>
      <vt:lpstr>THANK YOU! ANY QUESTIONS?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FATHIMA JUHANA</dc:creator>
  <cp:lastModifiedBy>Cathereen S</cp:lastModifiedBy>
  <cp:revision>5</cp:revision>
  <dcterms:created xsi:type="dcterms:W3CDTF">2026-02-10T11:13:14Z</dcterms:created>
  <dcterms:modified xsi:type="dcterms:W3CDTF">2026-02-11T03:34:45Z</dcterms:modified>
</cp:coreProperties>
</file>